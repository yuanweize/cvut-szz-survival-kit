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Syne"/>
      <p:regular r:id="rId8"/>
    </p:embeddedFont>
    <p:embeddedFont>
      <p:font typeface="Syne"/>
      <p:regular r:id="rId9"/>
    </p:embeddedFont>
    <p:embeddedFont>
      <p:font typeface="Arimo"/>
      <p:regular r:id="rId10"/>
    </p:embeddedFont>
    <p:embeddedFont>
      <p:font typeface="Arimo"/>
      <p:regular r:id="rId11"/>
    </p:embeddedFont>
    <p:embeddedFont>
      <p:font typeface="Arimo"/>
      <p:regular r:id="rId12"/>
    </p:embeddedFont>
    <p:embeddedFont>
      <p:font typeface="Arimo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48070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Platform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37724" y="1065848"/>
            <a:ext cx="10516076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Comparative Matrix: Control vs. Convenience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37724" y="1795820"/>
            <a:ext cx="12954952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side-by-side evaluation reveals fundamental architectural differences between self-hosted and commercial IoT platforms. This analysis demonstrates how open-source infrastructure delivers uncompromised data sovereignty at the cost of initial implementation complexity.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7724" y="2449949"/>
            <a:ext cx="12954952" cy="3337441"/>
          </a:xfrm>
          <a:prstGeom prst="roundRect">
            <a:avLst>
              <a:gd name="adj" fmla="val 80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344" y="2457569"/>
            <a:ext cx="12939713" cy="679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4771" y="2545913"/>
            <a:ext cx="35192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Evaluation Criterion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10495" y="2545913"/>
            <a:ext cx="2868454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Self-Hosted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45423" y="2545913"/>
            <a:ext cx="5460206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Commercial Platforms</a:t>
            </a:r>
            <a:endParaRPr lang="en-US" sz="14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(Xiaomi/Alexa/Google)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5344" y="3136940"/>
            <a:ext cx="12939713" cy="6793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4771" y="3225284"/>
            <a:ext cx="35192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Storage Location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0495" y="3225284"/>
            <a:ext cx="2868454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Local Infrastructure</a:t>
            </a:r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(Secure)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45423" y="3225284"/>
            <a:ext cx="5460206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Cloud-Dependent</a:t>
            </a:r>
            <a:endParaRPr lang="en-US" sz="14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(Vulnerable)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5344" y="3816310"/>
            <a:ext cx="12939713" cy="4280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4771" y="3904655"/>
            <a:ext cx="35192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Privacy Control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495" y="3904655"/>
            <a:ext cx="2868454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 Ownership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45423" y="3904655"/>
            <a:ext cx="546020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Limited User Control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5344" y="4244340"/>
            <a:ext cx="12939713" cy="4280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24771" y="4332684"/>
            <a:ext cx="35192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Offline Functionality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0495" y="4332684"/>
            <a:ext cx="2868454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Operation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45423" y="4332684"/>
            <a:ext cx="546020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Partial/Minimal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5344" y="4672370"/>
            <a:ext cx="12939713" cy="6793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24771" y="4760714"/>
            <a:ext cx="35192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Vendor Independence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0495" y="4760714"/>
            <a:ext cx="2868454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Open Source</a:t>
            </a:r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(No Lock-in)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45423" y="4760714"/>
            <a:ext cx="5460206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Proprietary Ecosystem</a:t>
            </a:r>
            <a:endParaRPr lang="en-US" sz="14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(Complete Lock-in)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5344" y="5351740"/>
            <a:ext cx="12939713" cy="4280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24771" y="5440085"/>
            <a:ext cx="351924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Initial Setup Complexity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0495" y="5440085"/>
            <a:ext cx="2868454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Medium Engineering Effort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45423" y="5440085"/>
            <a:ext cx="546020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 (Plug &amp; Play)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7724" y="5938838"/>
            <a:ext cx="12954952" cy="1542574"/>
          </a:xfrm>
          <a:prstGeom prst="roundRect">
            <a:avLst>
              <a:gd name="adj" fmla="val 1746"/>
            </a:avLst>
          </a:prstGeom>
          <a:solidFill>
            <a:srgbClr val="0F004D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151" y="6131362"/>
            <a:ext cx="263962" cy="211217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60540" y="6118146"/>
            <a:ext cx="4328398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Strategic Trade-off Acknowledgment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1460540" y="6516648"/>
            <a:ext cx="12152709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self-hosted architecture accepts higher upfront engineering complexity to achieve absolute data sovereignty and eliminate vendor dependency. Unlike commercial platforms vulnerable to service discontinuation or policy changes, this open-source foundation ensures long-term operational viability and architectural control.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2026-02-02T23:59:06Z</dcterms:created>
  <dcterms:modified xsi:type="dcterms:W3CDTF">2026-02-02T23:59:06Z</dcterms:modified>
</cp:coreProperties>
</file>